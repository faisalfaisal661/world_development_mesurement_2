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49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Development Cluster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Project Progress Update &amp; Data Preparation Strategy</a:t>
            </a:r>
          </a:p>
          <a:p>
            <a:r>
              <a:t>Presented by</a:t>
            </a:r>
            <a:r>
              <a:rPr/>
              <a:t>: </a:t>
            </a:r>
            <a:r>
              <a:rPr lang="en-IN" smtClean="0"/>
              <a:t>Group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2000"/>
            </a:pPr>
            <a:r>
              <a:t>Objective: Categorize countries based on economic and development metrics using Clustering (K-Means/Hierarchical).</a:t>
            </a:r>
          </a:p>
          <a:p>
            <a:pPr>
              <a:spcAft>
                <a:spcPts val="1400"/>
              </a:spcAft>
              <a:defRPr sz="2000"/>
            </a:pPr>
            <a:r>
              <a:t>Dataset Source: World Development Measurement.</a:t>
            </a:r>
          </a:p>
          <a:p>
            <a:pPr>
              <a:spcAft>
                <a:spcPts val="1400"/>
              </a:spcAft>
              <a:defRPr sz="2000"/>
            </a:pPr>
            <a:r>
              <a:t>Initial Data Shape:</a:t>
            </a:r>
          </a:p>
          <a:p>
            <a:pPr lvl="1">
              <a:spcAft>
                <a:spcPts val="1400"/>
              </a:spcAft>
              <a:defRPr sz="2000"/>
            </a:pPr>
            <a:r>
              <a:t> Rows: 2,704</a:t>
            </a:r>
          </a:p>
          <a:p>
            <a:pPr lvl="1">
              <a:spcAft>
                <a:spcPts val="1400"/>
              </a:spcAft>
              <a:defRPr sz="2000"/>
            </a:pPr>
            <a:r>
              <a:t> Columns: 25</a:t>
            </a:r>
          </a:p>
          <a:p>
            <a:pPr>
              <a:spcAft>
                <a:spcPts val="1400"/>
              </a:spcAft>
              <a:defRPr sz="2000"/>
            </a:pPr>
            <a:r>
              <a:t>Key Features: GDP, CO2 Emissions, Infant Mortality, Life Expectancy, Mobile Phone Usage.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Overview of Initial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spcAft>
                <a:spcPts val="1400"/>
              </a:spcAft>
              <a:defRPr sz="2000"/>
            </a:pPr>
            <a:r>
              <a:t>Statistical insights revealed significant disparities in data scales:</a:t>
            </a:r>
          </a:p>
          <a:p>
            <a:pPr>
              <a:spcAft>
                <a:spcPts val="1400"/>
              </a:spcAft>
              <a:defRPr sz="2000"/>
            </a:pPr>
            <a:r>
              <a:t>Scale Variance:</a:t>
            </a:r>
          </a:p>
          <a:p>
            <a:pPr lvl="1">
              <a:spcAft>
                <a:spcPts val="1400"/>
              </a:spcAft>
              <a:defRPr sz="2000"/>
            </a:pPr>
            <a:r>
              <a:t> Small Scale: 'Birth Rate' (Range: 0.01 - 0.05)</a:t>
            </a:r>
          </a:p>
          <a:p>
            <a:pPr lvl="1">
              <a:spcAft>
                <a:spcPts val="1400"/>
              </a:spcAft>
              <a:defRPr sz="2000"/>
            </a:pPr>
            <a:r>
              <a:t> Large Scale: 'GDP' (Range: $10M - Billions)</a:t>
            </a:r>
          </a:p>
          <a:p>
            <a:pPr>
              <a:spcAft>
                <a:spcPts val="1400"/>
              </a:spcAft>
              <a:defRPr sz="2000"/>
            </a:pPr>
            <a:r>
              <a:t>Distribution Analysis:</a:t>
            </a:r>
          </a:p>
          <a:p>
            <a:pPr lvl="1">
              <a:spcAft>
                <a:spcPts val="1400"/>
              </a:spcAft>
              <a:defRPr sz="2000"/>
            </a:pPr>
            <a:r>
              <a:t> Features like 'CO2 Emissions' and 'GDP' showed high skewness (Right-skewed).</a:t>
            </a:r>
          </a:p>
          <a:p>
            <a:pPr lvl="1">
              <a:spcAft>
                <a:spcPts val="1400"/>
              </a:spcAft>
              <a:defRPr sz="2000"/>
            </a:pPr>
            <a:r>
              <a:t> 'Number of Records' column contained zero variance (Single unique value).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Statistical Analysis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spcAft>
                <a:spcPts val="1400"/>
              </a:spcAft>
              <a:defRPr sz="2000"/>
            </a:pPr>
            <a:r>
              <a:t>1. Data Type Mismatch:</a:t>
            </a:r>
          </a:p>
          <a:p>
            <a:pPr lvl="1">
              <a:spcAft>
                <a:spcPts val="1400"/>
              </a:spcAft>
              <a:defRPr sz="2000"/>
            </a:pPr>
            <a:r>
              <a:t> Financial columns (GDP, Health Exp/Capita) were read as 'Objects' due to symbols ('$', ',').</a:t>
            </a:r>
          </a:p>
          <a:p>
            <a:pPr>
              <a:spcAft>
                <a:spcPts val="1400"/>
              </a:spcAft>
              <a:defRPr sz="2000"/>
            </a:pPr>
            <a:r>
              <a:t>2. Missing Data:</a:t>
            </a:r>
          </a:p>
          <a:p>
            <a:pPr lvl="1">
              <a:spcAft>
                <a:spcPts val="1400"/>
              </a:spcAft>
              <a:defRPr sz="2000"/>
            </a:pPr>
            <a:r>
              <a:t> 'Business Tax Rate': 100% Missing.</a:t>
            </a:r>
          </a:p>
          <a:p>
            <a:pPr lvl="1">
              <a:spcAft>
                <a:spcPts val="1400"/>
              </a:spcAft>
              <a:defRPr sz="2000"/>
            </a:pPr>
            <a:r>
              <a:t> 'Ease of Business': ~93% Missing.</a:t>
            </a:r>
          </a:p>
          <a:p>
            <a:pPr>
              <a:spcAft>
                <a:spcPts val="1400"/>
              </a:spcAft>
              <a:defRPr sz="2000"/>
            </a:pPr>
            <a:r>
              <a:t>3. Outliers:</a:t>
            </a:r>
          </a:p>
          <a:p>
            <a:pPr lvl="1">
              <a:spcAft>
                <a:spcPts val="1400"/>
              </a:spcAft>
              <a:defRPr sz="2000"/>
            </a:pPr>
            <a:r>
              <a:t> Significant outliers detected in Economic and Population metrics (e.g., China/India in Population, USA in GDP).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Identification: What we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pPr>
              <a:spcAft>
                <a:spcPts val="1400"/>
              </a:spcAft>
              <a:defRPr sz="2000"/>
            </a:pPr>
            <a:r>
              <a:t>1. Data Cleaning (Type Conversion):</a:t>
            </a:r>
          </a:p>
          <a:p>
            <a:pPr lvl="1">
              <a:spcAft>
                <a:spcPts val="1400"/>
              </a:spcAft>
              <a:defRPr sz="2000"/>
            </a:pPr>
            <a:r>
              <a:t> Solution: Implemented string manipulation to remove symbols and converted to Numeric.</a:t>
            </a:r>
          </a:p>
          <a:p>
            <a:pPr lvl="1">
              <a:spcAft>
                <a:spcPts val="1400"/>
              </a:spcAft>
              <a:defRPr sz="2000"/>
            </a:pPr>
            <a:r>
              <a:t> Reason: Clustering algorithms require numerical inputs.</a:t>
            </a:r>
          </a:p>
          <a:p>
            <a:pPr>
              <a:spcAft>
                <a:spcPts val="1400"/>
              </a:spcAft>
              <a:defRPr sz="2000"/>
            </a:pPr>
            <a:r>
              <a:t>2. Dimensionality Reduction (Dropping Columns):</a:t>
            </a:r>
          </a:p>
          <a:p>
            <a:pPr lvl="1">
              <a:spcAft>
                <a:spcPts val="1400"/>
              </a:spcAft>
              <a:defRPr sz="2000"/>
            </a:pPr>
            <a:r>
              <a:t> Solution: Dropped 'Business Tax Rate', 'Ease of Business', and 'Number of Records'.</a:t>
            </a:r>
          </a:p>
          <a:p>
            <a:pPr lvl="1">
              <a:spcAft>
                <a:spcPts val="1400"/>
              </a:spcAft>
              <a:defRPr sz="2000"/>
            </a:pPr>
            <a:r>
              <a:t> Reason: High missingness (&gt;50%) introduces bias; Zero variance features add no value.</a:t>
            </a:r>
          </a:p>
          <a:p>
            <a:pPr>
              <a:spcAft>
                <a:spcPts val="1400"/>
              </a:spcAft>
              <a:defRPr sz="2000"/>
            </a:pPr>
            <a:r>
              <a:t>3. Outlier Treatment:</a:t>
            </a:r>
          </a:p>
          <a:p>
            <a:pPr lvl="1">
              <a:spcAft>
                <a:spcPts val="1400"/>
              </a:spcAft>
              <a:defRPr sz="2000"/>
            </a:pPr>
            <a:r>
              <a:t> Solution: Applied Interquartile Range (IQR) Capping.</a:t>
            </a:r>
          </a:p>
          <a:p>
            <a:pPr lvl="1">
              <a:spcAft>
                <a:spcPts val="1400"/>
              </a:spcAft>
              <a:defRPr sz="2000"/>
            </a:pPr>
            <a:r>
              <a:t> Reason: K-Means is sensitive to outliers; capping preserves data without deleting rows.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Solutions Applied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1400"/>
              </a:spcAft>
              <a:defRPr sz="2000"/>
            </a:pPr>
            <a:r>
              <a:rPr smtClean="0"/>
              <a:t>Current </a:t>
            </a:r>
            <a:r>
              <a:t>Status: Data Cleaning and Outlier Treatment Completed.</a:t>
            </a:r>
          </a:p>
          <a:p>
            <a:pPr>
              <a:spcAft>
                <a:spcPts val="1400"/>
              </a:spcAft>
              <a:defRPr sz="2000"/>
            </a:pPr>
            <a:r>
              <a:t>Immediate Action Items:</a:t>
            </a:r>
          </a:p>
          <a:p>
            <a:pPr lvl="1">
              <a:spcAft>
                <a:spcPts val="1400"/>
              </a:spcAft>
              <a:defRPr sz="2000"/>
            </a:pPr>
            <a:r>
              <a:t> Impute remaining missing values (e.g., Energy Usage).</a:t>
            </a:r>
          </a:p>
          <a:p>
            <a:pPr lvl="1">
              <a:spcAft>
                <a:spcPts val="1400"/>
              </a:spcAft>
              <a:defRPr sz="2000"/>
            </a:pPr>
            <a:r>
              <a:t> Apply Standard Scaling (StandardScaler) to normalize feature ranges.</a:t>
            </a:r>
          </a:p>
          <a:p>
            <a:pPr>
              <a:spcAft>
                <a:spcPts val="1400"/>
              </a:spcAft>
              <a:defRPr sz="2000"/>
            </a:pPr>
            <a:r>
              <a:t>Upcoming Phase: Model Building</a:t>
            </a:r>
          </a:p>
          <a:p>
            <a:pPr lvl="1">
              <a:spcAft>
                <a:spcPts val="1400"/>
              </a:spcAft>
              <a:defRPr sz="2000"/>
            </a:pPr>
            <a:r>
              <a:t> Execute K-Means Clustering.</a:t>
            </a:r>
          </a:p>
          <a:p>
            <a:pPr lvl="1">
              <a:spcAft>
                <a:spcPts val="1400"/>
              </a:spcAft>
              <a:defRPr sz="2000"/>
            </a:pPr>
            <a:r>
              <a:t> Determine 'K' using Elbow Method.</a:t>
            </a:r>
          </a:p>
          <a:p>
            <a:pPr>
              <a:spcAft>
                <a:spcPts val="1400"/>
              </a:spcAft>
              <a:defRPr sz="2000"/>
            </a:pPr>
            <a:r>
              <a:t>Final Goal: Deploy application on Streamlit.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 &amp; Action Items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</TotalTime>
  <Words>402</Words>
  <Application>Microsoft Macintosh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Global Development Cluster Analysis</vt:lpstr>
      <vt:lpstr>Overview of Initial Data</vt:lpstr>
      <vt:lpstr>Statistical Analysis Insights</vt:lpstr>
      <vt:lpstr>Problem Identification: What we found</vt:lpstr>
      <vt:lpstr>Solutions Applied</vt:lpstr>
      <vt:lpstr>Next Steps &amp; Action Items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Development Cluster Analysis</dc:title>
  <dc:subject/>
  <dc:creator/>
  <cp:keywords/>
  <dc:description>generated using python-pptx</dc:description>
  <cp:lastModifiedBy>Zafar</cp:lastModifiedBy>
  <cp:revision>2</cp:revision>
  <dcterms:created xsi:type="dcterms:W3CDTF">2013-01-27T09:14:16Z</dcterms:created>
  <dcterms:modified xsi:type="dcterms:W3CDTF">2026-01-28T11:17:57Z</dcterms:modified>
  <cp:category/>
</cp:coreProperties>
</file>